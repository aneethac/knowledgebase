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3bccb439e4a98" /><Relationship Type="http://schemas.openxmlformats.org/officeDocument/2006/relationships/extended-properties" Target="/docProps/app.xml" Id="R54376360d2f44a77" /><Relationship Type="http://schemas.openxmlformats.org/officeDocument/2006/relationships/officeDocument" Target="/ppt/presentation.xml" Id="R0328b472e80e44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6ab9c2906c4c21"/>
  </p:sldMasterIdLst>
  <p:notesMasterIdLst>
    <p:notesMasterId xmlns:r="http://schemas.openxmlformats.org/officeDocument/2006/relationships" r:id="R1eb06817be6f4ab5"/>
  </p:notesMasterIdLst>
  <p:sldIdLst>
    <p:sldId xmlns:r="http://schemas.openxmlformats.org/officeDocument/2006/relationships" id="256" r:id="R78075215eb7043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61e7d242c4720" /><Relationship Type="http://schemas.openxmlformats.org/officeDocument/2006/relationships/slideMaster" Target="/ppt/slideMasters/slideMaster1.xml" Id="R486ab9c2906c4c21" /><Relationship Type="http://schemas.openxmlformats.org/officeDocument/2006/relationships/notesMaster" Target="/ppt/notesMasters/notesMaster1.xml" Id="R1eb06817be6f4ab5" /><Relationship Type="http://schemas.openxmlformats.org/officeDocument/2006/relationships/presProps" Target="/ppt/presProps.xml" Id="R24d3c38682c547f9" /><Relationship Type="http://schemas.openxmlformats.org/officeDocument/2006/relationships/tableStyles" Target="/ppt/tableStyles.xml" Id="R4b5035cbcaeb4e3e" /><Relationship Type="http://schemas.openxmlformats.org/officeDocument/2006/relationships/slide" Target="/ppt/slides/slide1.xml" Id="R78075215eb7043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c8214030e4a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42d6402894cd9" /><Relationship Type="http://schemas.openxmlformats.org/officeDocument/2006/relationships/notesMaster" Target="/ppt/notesMasters/notesMaster1.xml" Id="Rd2c863b02701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architecture diagram created from the supplied AAFS framework details. All boxes, labels and connectors are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bd7546d35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e0f817cb24207" /><Relationship Type="http://schemas.openxmlformats.org/officeDocument/2006/relationships/slideLayout" Target="/ppt/slideLayouts/slideLayout1.xml" Id="R09a26ac3b6c84e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26ac3b6c84e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31988b4934d2c" /><Relationship Type="http://schemas.openxmlformats.org/officeDocument/2006/relationships/notesSlide" Target="/ppt/notesSlides/notesSlide1.xml" Id="R6faa6b3f0a724d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Header">
            <a:extLst xmlns:a="http://schemas.openxmlformats.org/drawingml/2006/main">
              <a:ext uri="{FF2B5EF4-FFF2-40B4-BE49-F238E27FC236}">
                <a16:creationId xmlns:a16="http://schemas.microsoft.com/office/drawing/2014/main" id="{AA717782-0382-4265-8978-1C360C3F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7E"/>
          </a:solidFill>
          <a:ln xmlns:a="http://schemas.openxmlformats.org/drawingml/2006/main" w="0">
            <a:solidFill>
              <a:srgbClr val="174F7E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350AB8-8EA5-4AF8-991E-9F9B928D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AAFS Metadata Driven Feature Store Architecture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D0528CB-FA1D-41B1-8A40-6663F386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EAF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DBEAFE"/>
                </a:solidFill>
                <a:latin typeface="DejaVu Sans"/>
                <a:ea typeface="DejaVu Sans"/>
                <a:cs typeface="DejaVu Sans"/>
              </a:rPr>
              <a:t>PFS historical features and PFUS future scoring features on Azure Databricks</a:t>
            </a:r>
          </a:p>
        </p:txBody>
      </p:sp>
      <p:sp>
        <p:nvSpPr>
          <p:cNvPr id="4" name="Configuration layer">
            <a:extLst xmlns:a="http://schemas.openxmlformats.org/drawingml/2006/main">
              <a:ext uri="{FF2B5EF4-FFF2-40B4-BE49-F238E27FC236}">
                <a16:creationId xmlns:a16="http://schemas.microsoft.com/office/drawing/2014/main" id="{4676EA52-4E3D-4CE7-8380-D3BE05D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57250"/>
            <a:ext cx="11525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5" name="Configuration heading">
            <a:extLst xmlns:a="http://schemas.openxmlformats.org/drawingml/2006/main">
              <a:ext uri="{FF2B5EF4-FFF2-40B4-BE49-F238E27FC236}">
                <a16:creationId xmlns:a16="http://schemas.microsoft.com/office/drawing/2014/main" id="{47DE0257-EDCD-4B85-B1E3-82E744B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Configuration and source control</a:t>
            </a:r>
          </a:p>
        </p:txBody>
      </p:sp>
      <p:sp>
        <p:nvSpPr>
          <p:cNvPr id="6" name="Azure DevOps">
            <a:extLst xmlns:a="http://schemas.openxmlformats.org/drawingml/2006/main">
              <a:ext uri="{FF2B5EF4-FFF2-40B4-BE49-F238E27FC236}">
                <a16:creationId xmlns:a16="http://schemas.microsoft.com/office/drawing/2014/main" id="{1BDF88B3-7BF5-41CB-AEBD-A29ED5DF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8F3FC"/>
          </a:solidFill>
          <a:ln xmlns:a="http://schemas.openxmlformats.org/drawingml/2006/main" w="11430">
            <a:solidFill>
              <a:srgbClr val="0078D4"/>
            </a:solidFill>
            <a:prstDash val="solid"/>
          </a:ln>
        </p:spPr>
      </p:sp>
      <p:sp>
        <p:nvSpPr>
          <p:cNvPr id="7" name="Azure DevOps-title">
            <a:extLst xmlns:a="http://schemas.openxmlformats.org/drawingml/2006/main">
              <a:ext uri="{FF2B5EF4-FFF2-40B4-BE49-F238E27FC236}">
                <a16:creationId xmlns:a16="http://schemas.microsoft.com/office/drawing/2014/main" id="{5272A1C2-643B-44CC-B6C3-4736E6D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71600"/>
            <a:ext cx="1724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Azure DevOps</a:t>
            </a:r>
          </a:p>
        </p:txBody>
      </p:sp>
      <p:sp>
        <p:nvSpPr>
          <p:cNvPr id="8" name="Azure DevOps-body">
            <a:extLst xmlns:a="http://schemas.openxmlformats.org/drawingml/2006/main">
              <a:ext uri="{FF2B5EF4-FFF2-40B4-BE49-F238E27FC236}">
                <a16:creationId xmlns:a16="http://schemas.microsoft.com/office/drawing/2014/main" id="{0B2A32E5-E2EC-4DD0-9373-7F7A650E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09725"/>
            <a:ext cx="1724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14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Version-controlled repository</a:t>
            </a:r>
          </a:p>
        </p:txBody>
      </p:sp>
      <p:sp>
        <p:nvSpPr>
          <p:cNvPr id="9" name="Global config">
            <a:extLst xmlns:a="http://schemas.openxmlformats.org/drawingml/2006/main">
              <a:ext uri="{FF2B5EF4-FFF2-40B4-BE49-F238E27FC236}">
                <a16:creationId xmlns:a16="http://schemas.microsoft.com/office/drawing/2014/main" id="{73E5B145-AAC4-466D-BADC-5A676FC2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85875"/>
            <a:ext cx="2095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10" name="Global config-title">
            <a:extLst xmlns:a="http://schemas.openxmlformats.org/drawingml/2006/main">
              <a:ext uri="{FF2B5EF4-FFF2-40B4-BE49-F238E27FC236}">
                <a16:creationId xmlns:a16="http://schemas.microsoft.com/office/drawing/2014/main" id="{B15FA2AA-0FD3-4E3D-9E69-4BAB694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371600"/>
            <a:ext cx="1866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Global configuration</a:t>
            </a:r>
          </a:p>
        </p:txBody>
      </p:sp>
      <p:sp>
        <p:nvSpPr>
          <p:cNvPr id="11" name="Global config-body">
            <a:extLst xmlns:a="http://schemas.openxmlformats.org/drawingml/2006/main">
              <a:ext uri="{FF2B5EF4-FFF2-40B4-BE49-F238E27FC236}">
                <a16:creationId xmlns:a16="http://schemas.microsoft.com/office/drawing/2014/main" id="{508FF4F6-FE5D-46BB-9B2F-9EAA473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09725"/>
            <a:ext cx="1866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14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PFS / PFUS settings, mappings and connections</a:t>
            </a:r>
          </a:p>
        </p:txBody>
      </p:sp>
      <p:sp>
        <p:nvSpPr>
          <p:cNvPr id="12" name="Feature config">
            <a:extLst xmlns:a="http://schemas.openxmlformats.org/drawingml/2006/main">
              <a:ext uri="{FF2B5EF4-FFF2-40B4-BE49-F238E27FC236}">
                <a16:creationId xmlns:a16="http://schemas.microsoft.com/office/drawing/2014/main" id="{0F71DECA-88D4-4F85-BB04-455FE42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85875"/>
            <a:ext cx="2095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13" name="Feature config-title">
            <a:extLst xmlns:a="http://schemas.openxmlformats.org/drawingml/2006/main">
              <a:ext uri="{FF2B5EF4-FFF2-40B4-BE49-F238E27FC236}">
                <a16:creationId xmlns:a16="http://schemas.microsoft.com/office/drawing/2014/main" id="{3D00C7BC-9E83-479E-9C1E-3E052729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71600"/>
            <a:ext cx="1866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Feature configuration</a:t>
            </a:r>
          </a:p>
        </p:txBody>
      </p:sp>
      <p:sp>
        <p:nvSpPr>
          <p:cNvPr id="14" name="Feature config-body">
            <a:extLst xmlns:a="http://schemas.openxmlformats.org/drawingml/2006/main">
              <a:ext uri="{FF2B5EF4-FFF2-40B4-BE49-F238E27FC236}">
                <a16:creationId xmlns:a16="http://schemas.microsoft.com/office/drawing/2014/main" id="{87078CA2-8244-42DF-B97A-19241ACA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9725"/>
            <a:ext cx="1866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14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Grain, SQL steps, windows and validations</a:t>
            </a:r>
          </a:p>
        </p:txBody>
      </p:sp>
      <p:sp>
        <p:nvSpPr>
          <p:cNvPr id="15" name="SQL code">
            <a:extLst xmlns:a="http://schemas.openxmlformats.org/drawingml/2006/main">
              <a:ext uri="{FF2B5EF4-FFF2-40B4-BE49-F238E27FC236}">
                <a16:creationId xmlns:a16="http://schemas.microsoft.com/office/drawing/2014/main" id="{716A0E95-AF36-4E95-8C17-4C587C9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85875"/>
            <a:ext cx="1952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16" name="SQL code-title">
            <a:extLst xmlns:a="http://schemas.openxmlformats.org/drawingml/2006/main">
              <a:ext uri="{FF2B5EF4-FFF2-40B4-BE49-F238E27FC236}">
                <a16:creationId xmlns:a16="http://schemas.microsoft.com/office/drawing/2014/main" id="{2A1350E1-E0D7-47E4-981F-EDD22A29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371600"/>
            <a:ext cx="1724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Parameterized SQL</a:t>
            </a:r>
          </a:p>
        </p:txBody>
      </p:sp>
      <p:sp>
        <p:nvSpPr>
          <p:cNvPr id="17" name="SQL code-body">
            <a:extLst xmlns:a="http://schemas.openxmlformats.org/drawingml/2006/main">
              <a:ext uri="{FF2B5EF4-FFF2-40B4-BE49-F238E27FC236}">
                <a16:creationId xmlns:a16="http://schemas.microsoft.com/office/drawing/2014/main" id="{9708C9B3-9421-44C8-A072-080DD1D1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609725"/>
            <a:ext cx="17240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14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Domain and final-table transformations</a:t>
            </a:r>
          </a:p>
        </p:txBody>
      </p:sp>
      <p:sp>
        <p:nvSpPr>
          <p:cNvPr id="18" name="SQL metadata">
            <a:extLst xmlns:a="http://schemas.openxmlformats.org/drawingml/2006/main">
              <a:ext uri="{FF2B5EF4-FFF2-40B4-BE49-F238E27FC236}">
                <a16:creationId xmlns:a16="http://schemas.microsoft.com/office/drawing/2014/main" id="{52EB65D8-22E8-41EC-8C73-1B19055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285875"/>
            <a:ext cx="2047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19" name="SQL metadata-title">
            <a:extLst xmlns:a="http://schemas.openxmlformats.org/drawingml/2006/main">
              <a:ext uri="{FF2B5EF4-FFF2-40B4-BE49-F238E27FC236}">
                <a16:creationId xmlns:a16="http://schemas.microsoft.com/office/drawing/2014/main" id="{6F7597D9-D0B6-4FB6-95B6-DAF3F9D3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371600"/>
            <a:ext cx="1819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Versioned SQL metadata</a:t>
            </a:r>
          </a:p>
        </p:txBody>
      </p:sp>
      <p:sp>
        <p:nvSpPr>
          <p:cNvPr id="20" name="SQL metadata-body">
            <a:extLst xmlns:a="http://schemas.openxmlformats.org/drawingml/2006/main">
              <a:ext uri="{FF2B5EF4-FFF2-40B4-BE49-F238E27FC236}">
                <a16:creationId xmlns:a16="http://schemas.microsoft.com/office/drawing/2014/main" id="{9AA12687-D125-40EB-A5E8-B51F584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609725"/>
            <a:ext cx="18192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14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SQL path and commit ID</a:t>
            </a:r>
          </a:p>
        </p:txBody>
      </p:sp>
      <p:sp>
        <p:nvSpPr>
          <p:cNvPr id="21" name="Runtime layer">
            <a:extLst xmlns:a="http://schemas.openxmlformats.org/drawingml/2006/main">
              <a:ext uri="{FF2B5EF4-FFF2-40B4-BE49-F238E27FC236}">
                <a16:creationId xmlns:a16="http://schemas.microsoft.com/office/drawing/2014/main" id="{8943BAA4-8F3A-46F3-A1A9-F43DFE9B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90750"/>
            <a:ext cx="115252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2" name="Runtime heading">
            <a:extLst xmlns:a="http://schemas.openxmlformats.org/drawingml/2006/main">
              <a:ext uri="{FF2B5EF4-FFF2-40B4-BE49-F238E27FC236}">
                <a16:creationId xmlns:a16="http://schemas.microsoft.com/office/drawing/2014/main" id="{BD3361A4-B827-44A8-958D-FB89EC2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6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Scheduled runtime and orchestration</a:t>
            </a:r>
          </a:p>
        </p:txBody>
      </p:sp>
      <p:sp>
        <p:nvSpPr>
          <p:cNvPr id="23" name="RageMaker">
            <a:extLst xmlns:a="http://schemas.openxmlformats.org/drawingml/2006/main">
              <a:ext uri="{FF2B5EF4-FFF2-40B4-BE49-F238E27FC236}">
                <a16:creationId xmlns:a16="http://schemas.microsoft.com/office/drawing/2014/main" id="{6174BDCC-A58E-4248-88AA-C1697A8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381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RageMaker-title">
            <a:extLst xmlns:a="http://schemas.openxmlformats.org/drawingml/2006/main">
              <a:ext uri="{FF2B5EF4-FFF2-40B4-BE49-F238E27FC236}">
                <a16:creationId xmlns:a16="http://schemas.microsoft.com/office/drawing/2014/main" id="{5FCCCBC3-2B24-4EEB-9A16-BC1C986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28975"/>
            <a:ext cx="1152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RageMaker</a:t>
            </a:r>
          </a:p>
        </p:txBody>
      </p:sp>
      <p:sp>
        <p:nvSpPr>
          <p:cNvPr id="25" name="RageMaker-body">
            <a:extLst xmlns:a="http://schemas.openxmlformats.org/drawingml/2006/main">
              <a:ext uri="{FF2B5EF4-FFF2-40B4-BE49-F238E27FC236}">
                <a16:creationId xmlns:a16="http://schemas.microsoft.com/office/drawing/2014/main" id="{90094841-CD76-436B-8943-E354624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67100"/>
            <a:ext cx="1152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Enterprise scheduler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Triggers PFS / PFUS runs</a:t>
            </a:r>
          </a:p>
        </p:txBody>
      </p:sp>
      <p:sp>
        <p:nvSpPr>
          <p:cNvPr id="26" name="AAFS R Runtime">
            <a:extLst xmlns:a="http://schemas.openxmlformats.org/drawingml/2006/main">
              <a:ext uri="{FF2B5EF4-FFF2-40B4-BE49-F238E27FC236}">
                <a16:creationId xmlns:a16="http://schemas.microsoft.com/office/drawing/2014/main" id="{104E0699-E2AB-45A0-BA90-FBD67D01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6700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27" name="AAFS R title">
            <a:extLst xmlns:a="http://schemas.openxmlformats.org/drawingml/2006/main">
              <a:ext uri="{FF2B5EF4-FFF2-40B4-BE49-F238E27FC236}">
                <a16:creationId xmlns:a16="http://schemas.microsoft.com/office/drawing/2014/main" id="{7359DE87-B3F7-412E-A90C-EAE19029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AAFS R Runtime</a:t>
            </a:r>
          </a:p>
        </p:txBody>
      </p:sp>
      <p:sp>
        <p:nvSpPr>
          <p:cNvPr id="28" name="AAFS R subtitle">
            <a:extLst xmlns:a="http://schemas.openxmlformats.org/drawingml/2006/main">
              <a:ext uri="{FF2B5EF4-FFF2-40B4-BE49-F238E27FC236}">
                <a16:creationId xmlns:a16="http://schemas.microsoft.com/office/drawing/2014/main" id="{4F7C180F-06DB-43BD-83B7-3F7D61A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Metadata-driven orchestration layer</a:t>
            </a:r>
          </a:p>
        </p:txBody>
      </p:sp>
      <p:sp>
        <p:nvSpPr>
          <p:cNvPr id="29" name="build_fs_date">
            <a:extLst xmlns:a="http://schemas.openxmlformats.org/drawingml/2006/main">
              <a:ext uri="{FF2B5EF4-FFF2-40B4-BE49-F238E27FC236}">
                <a16:creationId xmlns:a16="http://schemas.microsoft.com/office/drawing/2014/main" id="{36917CF6-562E-421D-8FDB-956C826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381125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1430">
            <a:solidFill>
              <a:srgbClr val="BDD3EA"/>
            </a:solidFill>
            <a:prstDash val="solid"/>
          </a:ln>
        </p:spPr>
      </p:sp>
      <p:sp>
        <p:nvSpPr>
          <p:cNvPr id="30" name="build_fs_date-title">
            <a:extLst xmlns:a="http://schemas.openxmlformats.org/drawingml/2006/main">
              <a:ext uri="{FF2B5EF4-FFF2-40B4-BE49-F238E27FC236}">
                <a16:creationId xmlns:a16="http://schemas.microsoft.com/office/drawing/2014/main" id="{FCE4F5A8-D29D-41E8-B151-65F63A7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19475"/>
            <a:ext cx="1152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7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4F7E"/>
                </a:solidFill>
                <a:latin typeface="DejaVu Sans"/>
                <a:ea typeface="DejaVu Sans"/>
                <a:cs typeface="DejaVu Sans"/>
              </a:rPr>
              <a:t>build_fs_date</a:t>
            </a:r>
          </a:p>
        </p:txBody>
      </p:sp>
      <p:sp>
        <p:nvSpPr>
          <p:cNvPr id="31" name="build_fs_date-body">
            <a:extLst xmlns:a="http://schemas.openxmlformats.org/drawingml/2006/main">
              <a:ext uri="{FF2B5EF4-FFF2-40B4-BE49-F238E27FC236}">
                <a16:creationId xmlns:a16="http://schemas.microsoft.com/office/drawing/2014/main" id="{441A74AB-55BE-423F-99F9-B2FB420F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57600"/>
            <a:ext cx="1152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36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Last-successful date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PFS lookback / PFUS look-forward</a:t>
            </a:r>
          </a:p>
        </p:txBody>
      </p:sp>
      <p:sp>
        <p:nvSpPr>
          <p:cNvPr id="32" name="Config resolver">
            <a:extLst xmlns:a="http://schemas.openxmlformats.org/drawingml/2006/main">
              <a:ext uri="{FF2B5EF4-FFF2-40B4-BE49-F238E27FC236}">
                <a16:creationId xmlns:a16="http://schemas.microsoft.com/office/drawing/2014/main" id="{F59A7181-57DA-4843-AD03-556B8E2A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33750"/>
            <a:ext cx="14287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11430">
            <a:solidFill>
              <a:srgbClr val="BDD3EA"/>
            </a:solidFill>
            <a:prstDash val="solid"/>
          </a:ln>
        </p:spPr>
      </p:sp>
      <p:sp>
        <p:nvSpPr>
          <p:cNvPr id="33" name="Config resolver-title">
            <a:extLst xmlns:a="http://schemas.openxmlformats.org/drawingml/2006/main">
              <a:ext uri="{FF2B5EF4-FFF2-40B4-BE49-F238E27FC236}">
                <a16:creationId xmlns:a16="http://schemas.microsoft.com/office/drawing/2014/main" id="{F1DDE2A4-9AEA-4D94-B3E9-6B7278D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1947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13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7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4F7E"/>
                </a:solidFill>
                <a:latin typeface="DejaVu Sans"/>
                <a:ea typeface="DejaVu Sans"/>
                <a:cs typeface="DejaVu Sans"/>
              </a:rPr>
              <a:t>Configuration resolver</a:t>
            </a:r>
          </a:p>
        </p:txBody>
      </p:sp>
      <p:sp>
        <p:nvSpPr>
          <p:cNvPr id="34" name="Config resolver-body">
            <a:extLst xmlns:a="http://schemas.openxmlformats.org/drawingml/2006/main">
              <a:ext uri="{FF2B5EF4-FFF2-40B4-BE49-F238E27FC236}">
                <a16:creationId xmlns:a16="http://schemas.microsoft.com/office/drawing/2014/main" id="{508A1721-CE69-4AF4-A88F-6638C1FE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657600"/>
            <a:ext cx="1200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54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Merge global and feature YAML</a:t>
            </a:r>
          </a:p>
        </p:txBody>
      </p:sp>
      <p:sp>
        <p:nvSpPr>
          <p:cNvPr id="35" name="build_fs label">
            <a:extLst xmlns:a="http://schemas.openxmlformats.org/drawingml/2006/main">
              <a:ext uri="{FF2B5EF4-FFF2-40B4-BE49-F238E27FC236}">
                <a16:creationId xmlns:a16="http://schemas.microsoft.com/office/drawing/2014/main" id="{AD54B25C-C80C-4738-94D9-0D1302A9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7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4F7E"/>
                </a:solidFill>
                <a:latin typeface="DejaVu Sans"/>
                <a:ea typeface="DejaVu Sans"/>
                <a:cs typeface="DejaVu Sans"/>
              </a:rPr>
              <a:t>build_fs</a:t>
            </a:r>
          </a:p>
        </p:txBody>
      </p:sp>
      <p:sp>
        <p:nvSpPr>
          <p:cNvPr id="36" name="build_fs detail">
            <a:extLst xmlns:a="http://schemas.openxmlformats.org/drawingml/2006/main">
              <a:ext uri="{FF2B5EF4-FFF2-40B4-BE49-F238E27FC236}">
                <a16:creationId xmlns:a16="http://schemas.microsoft.com/office/drawing/2014/main" id="{59B71139-B254-42EB-B520-143E7F47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143375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663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Windowing, controlled concurrency, Jobs API, polling, retry and recovery</a:t>
            </a:r>
          </a:p>
        </p:txBody>
      </p:sp>
      <p:sp>
        <p:nvSpPr>
          <p:cNvPr id="37" name="Databricks Job">
            <a:extLst xmlns:a="http://schemas.openxmlformats.org/drawingml/2006/main">
              <a:ext uri="{FF2B5EF4-FFF2-40B4-BE49-F238E27FC236}">
                <a16:creationId xmlns:a16="http://schemas.microsoft.com/office/drawing/2014/main" id="{10142DA8-1F9B-4EA5-9D77-7AF519C2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714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</p:sp>
      <p:sp>
        <p:nvSpPr>
          <p:cNvPr id="38" name="Databricks Job-title">
            <a:extLst xmlns:a="http://schemas.openxmlformats.org/drawingml/2006/main">
              <a:ext uri="{FF2B5EF4-FFF2-40B4-BE49-F238E27FC236}">
                <a16:creationId xmlns:a16="http://schemas.microsoft.com/office/drawing/2014/main" id="{FA546324-8FBE-4CAB-BB10-29FCD088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Databricks Job</a:t>
            </a:r>
          </a:p>
        </p:txBody>
      </p:sp>
      <p:sp>
        <p:nvSpPr>
          <p:cNvPr id="39" name="Databricks Job-body">
            <a:extLst xmlns:a="http://schemas.openxmlformats.org/drawingml/2006/main">
              <a:ext uri="{FF2B5EF4-FFF2-40B4-BE49-F238E27FC236}">
                <a16:creationId xmlns:a16="http://schemas.microsoft.com/office/drawing/2014/main" id="{F061E280-CA0B-4629-9842-7FD71B21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33725"/>
            <a:ext cx="1485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4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Jobs API payload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Processing window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SQL and validation modes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Runtime and commit metadata</a:t>
            </a:r>
          </a:p>
        </p:txBody>
      </p:sp>
      <p:sp>
        <p:nvSpPr>
          <p:cNvPr id="40" name="All purpose compute">
            <a:extLst xmlns:a="http://schemas.openxmlformats.org/drawingml/2006/main">
              <a:ext uri="{FF2B5EF4-FFF2-40B4-BE49-F238E27FC236}">
                <a16:creationId xmlns:a16="http://schemas.microsoft.com/office/drawing/2014/main" id="{35CB2E20-F490-4B3F-93B4-87D0CD82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1762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41" name="All purpose compute-title">
            <a:extLst xmlns:a="http://schemas.openxmlformats.org/drawingml/2006/main">
              <a:ext uri="{FF2B5EF4-FFF2-40B4-BE49-F238E27FC236}">
                <a16:creationId xmlns:a16="http://schemas.microsoft.com/office/drawing/2014/main" id="{C86DF1C0-C6AE-41C7-88E5-E059CC8D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All-purpose compute</a:t>
            </a:r>
          </a:p>
        </p:txBody>
      </p:sp>
      <p:sp>
        <p:nvSpPr>
          <p:cNvPr id="42" name="All purpose compute-body">
            <a:extLst xmlns:a="http://schemas.openxmlformats.org/drawingml/2006/main">
              <a:ext uri="{FF2B5EF4-FFF2-40B4-BE49-F238E27FC236}">
                <a16:creationId xmlns:a16="http://schemas.microsoft.com/office/drawing/2014/main" id="{E3F00485-229A-4D9B-88A9-B253BC6A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33725"/>
            <a:ext cx="1533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2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Existing single-driver cluster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Python control notebook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Receives the job payload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Submits SQL to the warehouse</a:t>
            </a:r>
          </a:p>
        </p:txBody>
      </p:sp>
      <p:sp>
        <p:nvSpPr>
          <p:cNvPr id="43" name="SQL Warehouse">
            <a:extLst xmlns:a="http://schemas.openxmlformats.org/drawingml/2006/main">
              <a:ext uri="{FF2B5EF4-FFF2-40B4-BE49-F238E27FC236}">
                <a16:creationId xmlns:a16="http://schemas.microsoft.com/office/drawing/2014/main" id="{B7FF38B0-43EF-4B34-9FEA-94E17E5B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09875"/>
            <a:ext cx="152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E11D48"/>
            </a:solidFill>
            <a:prstDash val="solid"/>
          </a:ln>
        </p:spPr>
      </p:sp>
      <p:sp>
        <p:nvSpPr>
          <p:cNvPr id="44" name="SQL Warehouse-title">
            <a:extLst xmlns:a="http://schemas.openxmlformats.org/drawingml/2006/main">
              <a:ext uri="{FF2B5EF4-FFF2-40B4-BE49-F238E27FC236}">
                <a16:creationId xmlns:a16="http://schemas.microsoft.com/office/drawing/2014/main" id="{7EC9DAF9-592D-48DC-981A-5D42CB9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9560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SQL Warehouse</a:t>
            </a:r>
          </a:p>
        </p:txBody>
      </p:sp>
      <p:sp>
        <p:nvSpPr>
          <p:cNvPr id="45" name="SQL Warehouse-body">
            <a:extLst xmlns:a="http://schemas.openxmlformats.org/drawingml/2006/main">
              <a:ext uri="{FF2B5EF4-FFF2-40B4-BE49-F238E27FC236}">
                <a16:creationId xmlns:a16="http://schemas.microsoft.com/office/drawing/2014/main" id="{4AA89374-F4EF-4BB2-9217-074D5A0D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33725"/>
            <a:ext cx="1295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2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Transformation compute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Conditional SQL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Partition delete and insert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Count and primary-key checks</a:t>
            </a:r>
          </a:p>
        </p:txBody>
      </p:sp>
      <p:sp>
        <p:nvSpPr>
          <p:cNvPr id="46" name="Lakehouse layer">
            <a:extLst xmlns:a="http://schemas.openxmlformats.org/drawingml/2006/main">
              <a:ext uri="{FF2B5EF4-FFF2-40B4-BE49-F238E27FC236}">
                <a16:creationId xmlns:a16="http://schemas.microsoft.com/office/drawing/2014/main" id="{87BD9E88-2C77-4457-9638-C5B9C97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48250"/>
            <a:ext cx="11525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47" name="Lakehouse heading">
            <a:extLst xmlns:a="http://schemas.openxmlformats.org/drawingml/2006/main">
              <a:ext uri="{FF2B5EF4-FFF2-40B4-BE49-F238E27FC236}">
                <a16:creationId xmlns:a16="http://schemas.microsoft.com/office/drawing/2014/main" id="{8A8291A4-D0D5-4904-8F3B-D8CFBAB8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Lakehouse storage, governance and consumption</a:t>
            </a:r>
          </a:p>
        </p:txBody>
      </p:sp>
      <p:sp>
        <p:nvSpPr>
          <p:cNvPr id="48" name="ADLS Gen2">
            <a:extLst xmlns:a="http://schemas.openxmlformats.org/drawingml/2006/main">
              <a:ext uri="{FF2B5EF4-FFF2-40B4-BE49-F238E27FC236}">
                <a16:creationId xmlns:a16="http://schemas.microsoft.com/office/drawing/2014/main" id="{A221225A-6C18-4D8F-B12E-66C91954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2190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F3FC"/>
          </a:solidFill>
          <a:ln xmlns:a="http://schemas.openxmlformats.org/drawingml/2006/main" w="11430">
            <a:solidFill>
              <a:srgbClr val="0078D4"/>
            </a:solidFill>
            <a:prstDash val="solid"/>
          </a:ln>
        </p:spPr>
      </p:sp>
      <p:sp>
        <p:nvSpPr>
          <p:cNvPr id="49" name="ADLS Gen2-title">
            <a:extLst xmlns:a="http://schemas.openxmlformats.org/drawingml/2006/main">
              <a:ext uri="{FF2B5EF4-FFF2-40B4-BE49-F238E27FC236}">
                <a16:creationId xmlns:a16="http://schemas.microsoft.com/office/drawing/2014/main" id="{A21913C9-C394-4EC0-9B90-AA41FD81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62600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ADLS Gen2</a:t>
            </a:r>
          </a:p>
        </p:txBody>
      </p:sp>
      <p:sp>
        <p:nvSpPr>
          <p:cNvPr id="50" name="ADLS Gen2-body">
            <a:extLst xmlns:a="http://schemas.openxmlformats.org/drawingml/2006/main">
              <a:ext uri="{FF2B5EF4-FFF2-40B4-BE49-F238E27FC236}">
                <a16:creationId xmlns:a16="http://schemas.microsoft.com/office/drawing/2014/main" id="{BDE5419C-37D6-4053-9E32-E31ACB58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00725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Partitioned Delta storage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Historical and future data</a:t>
            </a:r>
          </a:p>
        </p:txBody>
      </p:sp>
      <p:sp>
        <p:nvSpPr>
          <p:cNvPr id="51" name="Unity Catalog">
            <a:extLst xmlns:a="http://schemas.openxmlformats.org/drawingml/2006/main">
              <a:ext uri="{FF2B5EF4-FFF2-40B4-BE49-F238E27FC236}">
                <a16:creationId xmlns:a16="http://schemas.microsoft.com/office/drawing/2014/main" id="{FFE5E84F-A48C-4194-B2AE-E14F1250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476875"/>
            <a:ext cx="2190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</p:sp>
      <p:sp>
        <p:nvSpPr>
          <p:cNvPr id="52" name="Unity Catalog-title">
            <a:extLst xmlns:a="http://schemas.openxmlformats.org/drawingml/2006/main">
              <a:ext uri="{FF2B5EF4-FFF2-40B4-BE49-F238E27FC236}">
                <a16:creationId xmlns:a16="http://schemas.microsoft.com/office/drawing/2014/main" id="{F6F6BC24-0753-456C-9819-8F84F017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62600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Unity Catalog</a:t>
            </a:r>
          </a:p>
        </p:txBody>
      </p:sp>
      <p:sp>
        <p:nvSpPr>
          <p:cNvPr id="53" name="Unity Catalog-body">
            <a:extLst xmlns:a="http://schemas.openxmlformats.org/drawingml/2006/main">
              <a:ext uri="{FF2B5EF4-FFF2-40B4-BE49-F238E27FC236}">
                <a16:creationId xmlns:a16="http://schemas.microsoft.com/office/drawing/2014/main" id="{E6C32DB9-AA9F-48C7-A4DE-3303FA6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800725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Governance, access, registered tables and views</a:t>
            </a:r>
          </a:p>
        </p:txBody>
      </p:sp>
      <p:sp>
        <p:nvSpPr>
          <p:cNvPr id="54" name="Processing layer">
            <a:extLst xmlns:a="http://schemas.openxmlformats.org/drawingml/2006/main">
              <a:ext uri="{FF2B5EF4-FFF2-40B4-BE49-F238E27FC236}">
                <a16:creationId xmlns:a16="http://schemas.microsoft.com/office/drawing/2014/main" id="{5A15D691-9E58-4C47-A582-9F6189E1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76875"/>
            <a:ext cx="2333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55" name="Processing layer-title">
            <a:extLst xmlns:a="http://schemas.openxmlformats.org/drawingml/2006/main">
              <a:ext uri="{FF2B5EF4-FFF2-40B4-BE49-F238E27FC236}">
                <a16:creationId xmlns:a16="http://schemas.microsoft.com/office/drawing/2014/main" id="{CB3D2FA4-11BE-4C02-B1CE-1BCF8FB5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562600"/>
            <a:ext cx="2105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Feature processing layer</a:t>
            </a:r>
          </a:p>
        </p:txBody>
      </p:sp>
      <p:sp>
        <p:nvSpPr>
          <p:cNvPr id="56" name="Processing layer-body">
            <a:extLst xmlns:a="http://schemas.openxmlformats.org/drawingml/2006/main">
              <a:ext uri="{FF2B5EF4-FFF2-40B4-BE49-F238E27FC236}">
                <a16:creationId xmlns:a16="http://schemas.microsoft.com/office/drawing/2014/main" id="{D99192CB-23B9-42F4-9093-745E5E59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800725"/>
            <a:ext cx="2105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Physical Delta tables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aa_smkt_pfs_v3</a:t>
            </a:r>
          </a:p>
        </p:txBody>
      </p:sp>
      <p:sp>
        <p:nvSpPr>
          <p:cNvPr id="57" name="Serving layer">
            <a:extLst xmlns:a="http://schemas.openxmlformats.org/drawingml/2006/main">
              <a:ext uri="{FF2B5EF4-FFF2-40B4-BE49-F238E27FC236}">
                <a16:creationId xmlns:a16="http://schemas.microsoft.com/office/drawing/2014/main" id="{8A93D2CA-5C47-43F0-8C04-929F31CD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76875"/>
            <a:ext cx="2571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58" name="Serving layer-title">
            <a:extLst xmlns:a="http://schemas.openxmlformats.org/drawingml/2006/main">
              <a:ext uri="{FF2B5EF4-FFF2-40B4-BE49-F238E27FC236}">
                <a16:creationId xmlns:a16="http://schemas.microsoft.com/office/drawing/2014/main" id="{E3B86FC1-C493-4FBB-9011-0C622F1A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626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F172A"/>
                </a:solidFill>
                <a:latin typeface="DejaVu Sans"/>
                <a:ea typeface="DejaVu Sans"/>
                <a:cs typeface="DejaVu Sans"/>
              </a:rPr>
              <a:t>Serving and consumption</a:t>
            </a:r>
          </a:p>
        </p:txBody>
      </p:sp>
      <p:sp>
        <p:nvSpPr>
          <p:cNvPr id="59" name="Serving layer-body">
            <a:extLst xmlns:a="http://schemas.openxmlformats.org/drawingml/2006/main">
              <a:ext uri="{FF2B5EF4-FFF2-40B4-BE49-F238E27FC236}">
                <a16:creationId xmlns:a16="http://schemas.microsoft.com/office/drawing/2014/main" id="{F2067679-8DF5-4FAC-A053-9F67C9BB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80072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Views in aa_smkt_pfs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Data science and ML models</a:t>
            </a:r>
          </a:p>
        </p:txBody>
      </p:sp>
      <p:cxnSp>
        <p:nvCxnSpPr>
          <p:cNvPr id="133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1905000" y="3524250"/>
            <a:ext cx="28575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2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5619750" y="3500438"/>
            <a:ext cx="3333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7667625" y="3500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36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763125" y="3500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4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 flipH="1">
            <a:off x="7119938" y="4191000"/>
            <a:ext cx="3738563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48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2809875" y="583406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51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476875" y="583406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286750" y="583406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500188" y="1809750"/>
            <a:ext cx="24050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64748B"/>
            </a:solidFill>
            <a:prstDash val="dash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3762375" y="1809750"/>
            <a:ext cx="904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64748B"/>
            </a:solidFill>
            <a:prstDash val="dash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2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4667250" y="1809750"/>
            <a:ext cx="1428750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64748B"/>
            </a:solidFill>
            <a:prstDash val="dash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1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6810375" y="1809750"/>
            <a:ext cx="154781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64748B"/>
            </a:solidFill>
            <a:prstDash val="dash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18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6810375" y="1809750"/>
            <a:ext cx="3786188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64748B"/>
            </a:solidFill>
            <a:prstDash val="dash"/>
            <a:tailEnd type="triangle" w="sm" len="sm"/>
          </a:ln>
        </p:spPr>
      </p:cxnSp>
      <p:sp>
        <p:nvSpPr>
          <p:cNvPr id="73" name="Footer">
            <a:extLst xmlns:a="http://schemas.openxmlformats.org/drawingml/2006/main">
              <a:ext uri="{FF2B5EF4-FFF2-40B4-BE49-F238E27FC236}">
                <a16:creationId xmlns:a16="http://schemas.microsoft.com/office/drawing/2014/main" id="{C4FDCE89-14F5-4683-8370-E31AF759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475569"/>
                </a:solidFill>
                <a:latin typeface="DejaVu Sans"/>
                <a:ea typeface="DejaVu Sans"/>
                <a:cs typeface="DejaVu Sans"/>
              </a:rPr>
              <a:t>Configuration-driven date windows   |   controlled parallelism   |   partition-level delete and reload   |   validation   |   retry and audit</a:t>
            </a:r>
          </a:p>
        </p:txBody>
      </p:sp>
    </p:spTree>
    <p:extLst>
      <p:ext uri="{BB962C8B-B14F-4D97-AF65-F5344CB8AC3E}">
        <p14:creationId xmlns:p14="http://schemas.microsoft.com/office/powerpoint/2010/main" val="762757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2026-09-23T00:44:24.7290000Z</dcterms:created>
  <dcterms:modified xsi:type="dcterms:W3CDTF">2026-09-23T00:44:24.7290000Z</dcterms:modified>
</coreProperties>
</file>